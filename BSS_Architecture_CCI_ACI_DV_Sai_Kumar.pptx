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3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3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3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3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4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1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2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2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2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0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0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38"/>
        </a:solidFill>
        <a:effectLst/>
      </p:bgPr>
    </p:bg>
    <p:spTree>
      <p:nvGrpSpPr>
        <p:cNvPr id="22" name=""/>
        <p:cNvGrpSpPr/>
        <p:nvPr/>
      </p:nvGrpSpPr>
      <p:grpSpPr>
        <a:xfrm/>
      </p:grpSpPr>
      <p:sp>
        <p:nvSpPr>
          <p:cNvPr id="1048584" name="Oval 1"/>
          <p:cNvSpPr/>
          <p:nvPr/>
        </p:nvSpPr>
        <p:spPr>
          <a:xfrm>
            <a:off x="9966960" y="457200"/>
            <a:ext cx="2011680" cy="2011680"/>
          </a:xfrm>
          <a:prstGeom prst="ellipse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Oval 2"/>
          <p:cNvSpPr/>
          <p:nvPr/>
        </p:nvSpPr>
        <p:spPr>
          <a:xfrm>
            <a:off x="10698480" y="2103120"/>
            <a:ext cx="1097280" cy="1097280"/>
          </a:xfrm>
          <a:prstGeom prst="ellipse"/>
          <a:solidFill>
            <a:srgbClr val="1D8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Oval 3"/>
          <p:cNvSpPr/>
          <p:nvPr/>
        </p:nvSpPr>
        <p:spPr>
          <a:xfrm>
            <a:off x="8961120" y="4389120"/>
            <a:ext cx="2286000" cy="2286000"/>
          </a:xfrm>
          <a:prstGeom prst="ellipse"/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Oval 4"/>
          <p:cNvSpPr/>
          <p:nvPr/>
        </p:nvSpPr>
        <p:spPr>
          <a:xfrm>
            <a:off x="8138160" y="2011680"/>
            <a:ext cx="640080" cy="640080"/>
          </a:xfrm>
          <a:prstGeom prst="ellipse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TextBox 5"/>
          <p:cNvSpPr txBox="1"/>
          <p:nvPr/>
        </p:nvSpPr>
        <p:spPr>
          <a:xfrm>
            <a:off x="777240" y="731520"/>
            <a:ext cx="5303520" cy="2819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300" i="0">
                <a:solidFill>
                  <a:srgbClr val="33BECD"/>
                </a:solidFill>
                <a:latin typeface="Aptos"/>
              </a:rPr>
              <a:t>WIRELESS COMMUNICATIONS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731520" y="1325880"/>
            <a:ext cx="7772400" cy="1615441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3400" i="0">
                <a:solidFill>
                  <a:srgbClr val="F8FAFD"/>
                </a:solidFill>
                <a:latin typeface="Aptos"/>
              </a:rPr>
              <a:t>Base Station
Subsystem (BSS)
Architecture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777240" y="3657600"/>
            <a:ext cx="7680960" cy="345441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700" i="0">
                <a:solidFill>
                  <a:srgbClr val="E4EEF8"/>
                </a:solidFill>
                <a:latin typeface="Aptos"/>
              </a:rPr>
              <a:t>Co-Channel Interference (CCI)  |  Adjacent-Channel Interference (ACI)</a:t>
            </a:r>
          </a:p>
        </p:txBody>
      </p:sp>
      <p:sp>
        <p:nvSpPr>
          <p:cNvPr id="1048591" name="Rectangle 8"/>
          <p:cNvSpPr/>
          <p:nvPr/>
        </p:nvSpPr>
        <p:spPr>
          <a:xfrm>
            <a:off x="786384" y="4599432"/>
            <a:ext cx="1005840" cy="54864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9"/>
          <p:cNvSpPr txBox="1"/>
          <p:nvPr/>
        </p:nvSpPr>
        <p:spPr>
          <a:xfrm>
            <a:off x="777240" y="4892040"/>
            <a:ext cx="1554480" cy="256032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200" i="0">
                <a:solidFill>
                  <a:srgbClr val="A0B9D7"/>
                </a:solidFill>
                <a:latin typeface="Aptos"/>
              </a:rPr>
              <a:t>Presented by</a:t>
            </a:r>
          </a:p>
        </p:txBody>
      </p:sp>
      <p:sp>
        <p:nvSpPr>
          <p:cNvPr id="1048593" name="TextBox 10"/>
          <p:cNvSpPr txBox="1"/>
          <p:nvPr/>
        </p:nvSpPr>
        <p:spPr>
          <a:xfrm>
            <a:off x="777240" y="5193792"/>
            <a:ext cx="3840480" cy="384048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200" i="0">
                <a:solidFill>
                  <a:srgbClr val="F8FAFD"/>
                </a:solidFill>
                <a:latin typeface="Aptos"/>
              </a:rPr>
              <a:t>D V Sai Kumar</a:t>
            </a:r>
          </a:p>
        </p:txBody>
      </p:sp>
      <p:sp>
        <p:nvSpPr>
          <p:cNvPr id="1048594" name="TextBox 11"/>
          <p:cNvSpPr txBox="1"/>
          <p:nvPr/>
        </p:nvSpPr>
        <p:spPr>
          <a:xfrm>
            <a:off x="777240" y="5623560"/>
            <a:ext cx="420624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E4EEF8"/>
                </a:solidFill>
                <a:latin typeface="Aptos"/>
              </a:rPr>
              <a:t>Register Number: 192372321</a:t>
            </a:r>
          </a:p>
        </p:txBody>
      </p:sp>
      <p:sp>
        <p:nvSpPr>
          <p:cNvPr id="1048595" name="TextBox 12"/>
          <p:cNvSpPr txBox="1"/>
          <p:nvPr/>
        </p:nvSpPr>
        <p:spPr>
          <a:xfrm>
            <a:off x="7360920" y="6355080"/>
            <a:ext cx="4023360" cy="201168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8FA8C7"/>
                </a:solidFill>
                <a:latin typeface="Aptos"/>
              </a:rPr>
              <a:t>GSM NETWORKS • RADIO RESOURCE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23" name=""/>
        <p:cNvGrpSpPr/>
        <p:nvPr/>
      </p:nvGrpSpPr>
      <p:grpSpPr>
        <a:xfrm/>
      </p:grpSpPr>
      <p:sp>
        <p:nvSpPr>
          <p:cNvPr id="1048596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0C1C38"/>
                </a:solidFill>
                <a:latin typeface="Aptos"/>
              </a:rPr>
              <a:t>Introduction</a:t>
            </a:r>
          </a:p>
        </p:txBody>
      </p:sp>
      <p:sp>
        <p:nvSpPr>
          <p:cNvPr id="1048597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1D8E9A"/>
                </a:solidFill>
                <a:latin typeface="Aptos"/>
              </a:rPr>
              <a:t>OVERVIEW</a:t>
            </a:r>
          </a:p>
        </p:txBody>
      </p:sp>
      <p:sp>
        <p:nvSpPr>
          <p:cNvPr id="1048599" name="TextBox 4"/>
          <p:cNvSpPr txBox="1"/>
          <p:nvPr/>
        </p:nvSpPr>
        <p:spPr>
          <a:xfrm>
            <a:off x="11292840" y="6473952"/>
            <a:ext cx="411480" cy="231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64778F"/>
                </a:solidFill>
                <a:latin typeface="Aptos"/>
              </a:rPr>
              <a:t>02</a:t>
            </a:r>
          </a:p>
        </p:txBody>
      </p:sp>
      <p:sp>
        <p:nvSpPr>
          <p:cNvPr id="1048600" name="TextBox 5"/>
          <p:cNvSpPr txBox="1"/>
          <p:nvPr/>
        </p:nvSpPr>
        <p:spPr>
          <a:xfrm>
            <a:off x="685800" y="1234440"/>
            <a:ext cx="10698480" cy="701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2100" i="0">
                <a:solidFill>
                  <a:srgbClr val="1C2A3D"/>
                </a:solidFill>
                <a:latin typeface="Aptos"/>
              </a:rPr>
              <a:t>The Base Station Subsystem (BSS) is the radio-access part of a GSM network. It connects mobile devices to the core network through radio communication.</a:t>
            </a:r>
          </a:p>
        </p:txBody>
      </p:sp>
      <p:sp>
        <p:nvSpPr>
          <p:cNvPr id="1048601" name="Rounded Rectangle 6"/>
          <p:cNvSpPr/>
          <p:nvPr/>
        </p:nvSpPr>
        <p:spPr>
          <a:xfrm>
            <a:off x="685800" y="2423160"/>
            <a:ext cx="3429000" cy="201168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Rectangle 7"/>
          <p:cNvSpPr/>
          <p:nvPr/>
        </p:nvSpPr>
        <p:spPr>
          <a:xfrm>
            <a:off x="685800" y="2532888"/>
            <a:ext cx="64008" cy="1792224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8"/>
          <p:cNvSpPr txBox="1"/>
          <p:nvPr/>
        </p:nvSpPr>
        <p:spPr>
          <a:xfrm>
            <a:off x="886968" y="2587752"/>
            <a:ext cx="304495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Connects users</a:t>
            </a:r>
          </a:p>
        </p:txBody>
      </p:sp>
      <p:sp>
        <p:nvSpPr>
          <p:cNvPr id="1048604" name="TextBox 9"/>
          <p:cNvSpPr txBox="1"/>
          <p:nvPr/>
        </p:nvSpPr>
        <p:spPr>
          <a:xfrm>
            <a:off x="886968" y="2990088"/>
            <a:ext cx="3044952" cy="574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600" i="0">
                <a:solidFill>
                  <a:srgbClr val="1C2A3D"/>
                </a:solidFill>
                <a:latin typeface="Aptos"/>
              </a:rPr>
              <a:t>Carries voice and data between mobile stations and the network.</a:t>
            </a:r>
          </a:p>
        </p:txBody>
      </p:sp>
      <p:sp>
        <p:nvSpPr>
          <p:cNvPr id="1048605" name="Rounded Rectangle 10"/>
          <p:cNvSpPr/>
          <p:nvPr/>
        </p:nvSpPr>
        <p:spPr>
          <a:xfrm>
            <a:off x="4370832" y="2423160"/>
            <a:ext cx="3429000" cy="201168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Rectangle 11"/>
          <p:cNvSpPr/>
          <p:nvPr/>
        </p:nvSpPr>
        <p:spPr>
          <a:xfrm>
            <a:off x="4370832" y="2532888"/>
            <a:ext cx="64008" cy="1792224"/>
          </a:xfrm>
          <a:prstGeom prst="rect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12"/>
          <p:cNvSpPr txBox="1"/>
          <p:nvPr/>
        </p:nvSpPr>
        <p:spPr>
          <a:xfrm>
            <a:off x="4572000" y="2587752"/>
            <a:ext cx="304495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Manages radio links</a:t>
            </a:r>
          </a:p>
        </p:txBody>
      </p:sp>
      <p:sp>
        <p:nvSpPr>
          <p:cNvPr id="1048608" name="TextBox 13"/>
          <p:cNvSpPr txBox="1"/>
          <p:nvPr/>
        </p:nvSpPr>
        <p:spPr>
          <a:xfrm>
            <a:off x="4572000" y="2990088"/>
            <a:ext cx="3044952" cy="8153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600" i="0">
                <a:solidFill>
                  <a:srgbClr val="1C2A3D"/>
                </a:solidFill>
                <a:latin typeface="Aptos"/>
              </a:rPr>
              <a:t>Assigns radio channels and supports handover as users move.</a:t>
            </a:r>
          </a:p>
        </p:txBody>
      </p:sp>
      <p:sp>
        <p:nvSpPr>
          <p:cNvPr id="1048609" name="Rounded Rectangle 14"/>
          <p:cNvSpPr/>
          <p:nvPr/>
        </p:nvSpPr>
        <p:spPr>
          <a:xfrm>
            <a:off x="8055864" y="2423160"/>
            <a:ext cx="3429000" cy="201168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Rectangle 15"/>
          <p:cNvSpPr/>
          <p:nvPr/>
        </p:nvSpPr>
        <p:spPr>
          <a:xfrm>
            <a:off x="8055864" y="2532888"/>
            <a:ext cx="64008" cy="1792224"/>
          </a:xfrm>
          <a:prstGeom prst="rect"/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TextBox 16"/>
          <p:cNvSpPr txBox="1"/>
          <p:nvPr/>
        </p:nvSpPr>
        <p:spPr>
          <a:xfrm>
            <a:off x="8257032" y="2587752"/>
            <a:ext cx="304495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Needs clean spectrum</a:t>
            </a:r>
          </a:p>
        </p:txBody>
      </p:sp>
      <p:sp>
        <p:nvSpPr>
          <p:cNvPr id="1048612" name="TextBox 17"/>
          <p:cNvSpPr txBox="1"/>
          <p:nvPr/>
        </p:nvSpPr>
        <p:spPr>
          <a:xfrm>
            <a:off x="8257032" y="2990088"/>
            <a:ext cx="3044952" cy="574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600" i="0">
                <a:solidFill>
                  <a:srgbClr val="1C2A3D"/>
                </a:solidFill>
                <a:latin typeface="Aptos"/>
              </a:rPr>
              <a:t>Interference can reduce call quality, coverage and capacity.</a:t>
            </a:r>
          </a:p>
        </p:txBody>
      </p:sp>
      <p:sp>
        <p:nvSpPr>
          <p:cNvPr id="1048613" name="TextBox 18"/>
          <p:cNvSpPr txBox="1"/>
          <p:nvPr/>
        </p:nvSpPr>
        <p:spPr>
          <a:xfrm>
            <a:off x="731520" y="4983480"/>
            <a:ext cx="201168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600" i="0">
                <a:solidFill>
                  <a:srgbClr val="1D8E9A"/>
                </a:solidFill>
                <a:latin typeface="Aptos"/>
              </a:rPr>
              <a:t>Presentation focus</a:t>
            </a:r>
          </a:p>
        </p:txBody>
      </p:sp>
      <p:sp>
        <p:nvSpPr>
          <p:cNvPr id="1048614" name="TextBox 19"/>
          <p:cNvSpPr txBox="1"/>
          <p:nvPr/>
        </p:nvSpPr>
        <p:spPr>
          <a:xfrm>
            <a:off x="731520" y="5376672"/>
            <a:ext cx="10515600" cy="3962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000" i="0">
                <a:solidFill>
                  <a:srgbClr val="0C1C38"/>
                </a:solidFill>
                <a:latin typeface="Aptos"/>
              </a:rPr>
              <a:t>BSS architecture  →  CCI  →  ACI  →  Comparison and mitigation</a:t>
            </a:r>
          </a:p>
        </p:txBody>
      </p:sp>
      <p:sp>
        <p:nvSpPr>
          <p:cNvPr id="1048615" name="TextBox 20"/>
          <p:cNvSpPr txBox="1"/>
          <p:nvPr/>
        </p:nvSpPr>
        <p:spPr>
          <a:xfrm>
            <a:off x="640080" y="6473952"/>
            <a:ext cx="502920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D V Sai Kumar  •  192372321</a:t>
            </a:r>
          </a:p>
        </p:txBody>
      </p:sp>
      <p:sp>
        <p:nvSpPr>
          <p:cNvPr id="1048616" name="TextBox 21"/>
          <p:cNvSpPr txBox="1"/>
          <p:nvPr/>
        </p:nvSpPr>
        <p:spPr>
          <a:xfrm>
            <a:off x="11201400" y="6473952"/>
            <a:ext cx="36576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617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0C1C38"/>
                </a:solidFill>
                <a:latin typeface="Aptos"/>
              </a:rPr>
              <a:t>BSS Architecture</a:t>
            </a:r>
          </a:p>
        </p:txBody>
      </p:sp>
      <p:sp>
        <p:nvSpPr>
          <p:cNvPr id="1048618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9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1D8E9A"/>
                </a:solidFill>
                <a:latin typeface="Aptos"/>
              </a:rPr>
              <a:t>COMPONENTS</a:t>
            </a:r>
          </a:p>
        </p:txBody>
      </p:sp>
      <p:sp>
        <p:nvSpPr>
          <p:cNvPr id="1048620" name="TextBox 4"/>
          <p:cNvSpPr txBox="1"/>
          <p:nvPr/>
        </p:nvSpPr>
        <p:spPr>
          <a:xfrm>
            <a:off x="11292840" y="6473952"/>
            <a:ext cx="411480" cy="231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64778F"/>
                </a:solidFill>
                <a:latin typeface="Aptos"/>
              </a:rPr>
              <a:t>03</a:t>
            </a:r>
          </a:p>
        </p:txBody>
      </p:sp>
      <p:sp>
        <p:nvSpPr>
          <p:cNvPr id="1048621" name="Rounded Rectangle 5"/>
          <p:cNvSpPr/>
          <p:nvPr/>
        </p:nvSpPr>
        <p:spPr>
          <a:xfrm>
            <a:off x="640080" y="1417320"/>
            <a:ext cx="1965960" cy="12344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Rectangle 6"/>
          <p:cNvSpPr/>
          <p:nvPr/>
        </p:nvSpPr>
        <p:spPr>
          <a:xfrm>
            <a:off x="640080" y="1527048"/>
            <a:ext cx="64008" cy="1014984"/>
          </a:xfrm>
          <a:prstGeom prst="rect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3" name="TextBox 7"/>
          <p:cNvSpPr txBox="1"/>
          <p:nvPr/>
        </p:nvSpPr>
        <p:spPr>
          <a:xfrm>
            <a:off x="841247" y="1581912"/>
            <a:ext cx="1581912" cy="345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Mobile Station</a:t>
            </a:r>
          </a:p>
        </p:txBody>
      </p:sp>
      <p:sp>
        <p:nvSpPr>
          <p:cNvPr id="1048624" name="TextBox 8"/>
          <p:cNvSpPr txBox="1"/>
          <p:nvPr/>
        </p:nvSpPr>
        <p:spPr>
          <a:xfrm>
            <a:off x="841247" y="1984248"/>
            <a:ext cx="1581912" cy="2819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300" i="0">
                <a:solidFill>
                  <a:srgbClr val="1C2A3D"/>
                </a:solidFill>
                <a:latin typeface="Aptos"/>
              </a:rPr>
              <a:t>Phone / SIM</a:t>
            </a:r>
          </a:p>
        </p:txBody>
      </p:sp>
      <p:sp>
        <p:nvSpPr>
          <p:cNvPr id="1048625" name="Rounded Rectangle 9"/>
          <p:cNvSpPr/>
          <p:nvPr/>
        </p:nvSpPr>
        <p:spPr>
          <a:xfrm>
            <a:off x="3063240" y="1417320"/>
            <a:ext cx="1965960" cy="12344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6" name="Rectangle 10"/>
          <p:cNvSpPr/>
          <p:nvPr/>
        </p:nvSpPr>
        <p:spPr>
          <a:xfrm>
            <a:off x="3063240" y="1527048"/>
            <a:ext cx="64008" cy="1014984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11"/>
          <p:cNvSpPr txBox="1"/>
          <p:nvPr/>
        </p:nvSpPr>
        <p:spPr>
          <a:xfrm>
            <a:off x="3264408" y="1581912"/>
            <a:ext cx="1581912" cy="345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BTS</a:t>
            </a:r>
          </a:p>
        </p:txBody>
      </p:sp>
      <p:sp>
        <p:nvSpPr>
          <p:cNvPr id="1048628" name="TextBox 12"/>
          <p:cNvSpPr txBox="1"/>
          <p:nvPr/>
        </p:nvSpPr>
        <p:spPr>
          <a:xfrm>
            <a:off x="3264408" y="1984248"/>
            <a:ext cx="1581912" cy="472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300" i="0">
                <a:solidFill>
                  <a:srgbClr val="1C2A3D"/>
                </a:solidFill>
                <a:latin typeface="Aptos"/>
              </a:rPr>
              <a:t>Radio transmitter
and receiver</a:t>
            </a:r>
          </a:p>
        </p:txBody>
      </p:sp>
      <p:sp>
        <p:nvSpPr>
          <p:cNvPr id="1048629" name="Rounded Rectangle 13"/>
          <p:cNvSpPr/>
          <p:nvPr/>
        </p:nvSpPr>
        <p:spPr>
          <a:xfrm>
            <a:off x="5486400" y="1417320"/>
            <a:ext cx="1965960" cy="12344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Rectangle 14"/>
          <p:cNvSpPr/>
          <p:nvPr/>
        </p:nvSpPr>
        <p:spPr>
          <a:xfrm>
            <a:off x="5486400" y="1527048"/>
            <a:ext cx="64008" cy="1014984"/>
          </a:xfrm>
          <a:prstGeom prst="rect"/>
          <a:solidFill>
            <a:srgbClr val="1D8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1" name="TextBox 15"/>
          <p:cNvSpPr txBox="1"/>
          <p:nvPr/>
        </p:nvSpPr>
        <p:spPr>
          <a:xfrm>
            <a:off x="5687568" y="1581912"/>
            <a:ext cx="1581912" cy="345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BSC</a:t>
            </a:r>
          </a:p>
        </p:txBody>
      </p:sp>
      <p:sp>
        <p:nvSpPr>
          <p:cNvPr id="1048632" name="TextBox 16"/>
          <p:cNvSpPr txBox="1"/>
          <p:nvPr/>
        </p:nvSpPr>
        <p:spPr>
          <a:xfrm>
            <a:off x="5687568" y="1984248"/>
            <a:ext cx="1581912" cy="472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300" i="0">
                <a:solidFill>
                  <a:srgbClr val="1C2A3D"/>
                </a:solidFill>
                <a:latin typeface="Aptos"/>
              </a:rPr>
              <a:t>Controls multiple BTSs</a:t>
            </a:r>
          </a:p>
        </p:txBody>
      </p:sp>
      <p:sp>
        <p:nvSpPr>
          <p:cNvPr id="1048633" name="Rounded Rectangle 17"/>
          <p:cNvSpPr/>
          <p:nvPr/>
        </p:nvSpPr>
        <p:spPr>
          <a:xfrm>
            <a:off x="7909560" y="1417320"/>
            <a:ext cx="1965960" cy="12344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4" name="Rectangle 18"/>
          <p:cNvSpPr/>
          <p:nvPr/>
        </p:nvSpPr>
        <p:spPr>
          <a:xfrm>
            <a:off x="7909560" y="1527048"/>
            <a:ext cx="64008" cy="1014984"/>
          </a:xfrm>
          <a:prstGeom prst="rect"/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19"/>
          <p:cNvSpPr txBox="1"/>
          <p:nvPr/>
        </p:nvSpPr>
        <p:spPr>
          <a:xfrm>
            <a:off x="8110728" y="1581912"/>
            <a:ext cx="1581912" cy="345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Core Network</a:t>
            </a:r>
          </a:p>
        </p:txBody>
      </p:sp>
      <p:sp>
        <p:nvSpPr>
          <p:cNvPr id="1048636" name="TextBox 20"/>
          <p:cNvSpPr txBox="1"/>
          <p:nvPr/>
        </p:nvSpPr>
        <p:spPr>
          <a:xfrm>
            <a:off x="8110728" y="1984248"/>
            <a:ext cx="1581912" cy="472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300" i="0">
                <a:solidFill>
                  <a:srgbClr val="1C2A3D"/>
                </a:solidFill>
                <a:latin typeface="Aptos"/>
              </a:rPr>
              <a:t>MSC and other systems</a:t>
            </a:r>
          </a:p>
        </p:txBody>
      </p:sp>
      <p:cxnSp>
        <p:nvCxnSpPr>
          <p:cNvPr id="3145728" name="Connector 21"/>
          <p:cNvCxnSpPr>
            <a:cxnSpLocks/>
          </p:cNvCxnSpPr>
          <p:nvPr/>
        </p:nvCxnSpPr>
        <p:spPr>
          <a:xfrm>
            <a:off x="2606040" y="2029968"/>
            <a:ext cx="457200" cy="0"/>
          </a:xfrm>
          <a:prstGeom prst="line"/>
          <a:ln w="31750">
            <a:solidFill>
              <a:srgbClr val="20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22"/>
          <p:cNvCxnSpPr>
            <a:cxnSpLocks/>
          </p:cNvCxnSpPr>
          <p:nvPr/>
        </p:nvCxnSpPr>
        <p:spPr>
          <a:xfrm>
            <a:off x="5029200" y="2029968"/>
            <a:ext cx="457200" cy="0"/>
          </a:xfrm>
          <a:prstGeom prst="line"/>
          <a:ln w="31750">
            <a:solidFill>
              <a:srgbClr val="20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0" name="Connector 23"/>
          <p:cNvCxnSpPr>
            <a:cxnSpLocks/>
          </p:cNvCxnSpPr>
          <p:nvPr/>
        </p:nvCxnSpPr>
        <p:spPr>
          <a:xfrm>
            <a:off x="7452360" y="2029968"/>
            <a:ext cx="457200" cy="0"/>
          </a:xfrm>
          <a:prstGeom prst="line"/>
          <a:ln w="31750">
            <a:solidFill>
              <a:srgbClr val="20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37" name="TextBox 24"/>
          <p:cNvSpPr txBox="1"/>
          <p:nvPr/>
        </p:nvSpPr>
        <p:spPr>
          <a:xfrm>
            <a:off x="2578608" y="2240280"/>
            <a:ext cx="502920" cy="345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Radio link</a:t>
            </a:r>
          </a:p>
        </p:txBody>
      </p:sp>
      <p:sp>
        <p:nvSpPr>
          <p:cNvPr id="1048638" name="TextBox 25"/>
          <p:cNvSpPr txBox="1"/>
          <p:nvPr/>
        </p:nvSpPr>
        <p:spPr>
          <a:xfrm>
            <a:off x="5047488" y="2240280"/>
            <a:ext cx="41148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Abis</a:t>
            </a:r>
          </a:p>
        </p:txBody>
      </p:sp>
      <p:sp>
        <p:nvSpPr>
          <p:cNvPr id="1048639" name="TextBox 26"/>
          <p:cNvSpPr txBox="1"/>
          <p:nvPr/>
        </p:nvSpPr>
        <p:spPr>
          <a:xfrm>
            <a:off x="7424927" y="2240280"/>
            <a:ext cx="502920" cy="345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A interface</a:t>
            </a:r>
          </a:p>
        </p:txBody>
      </p:sp>
      <p:sp>
        <p:nvSpPr>
          <p:cNvPr id="1048640" name="Rounded Rectangle 27"/>
          <p:cNvSpPr/>
          <p:nvPr/>
        </p:nvSpPr>
        <p:spPr>
          <a:xfrm>
            <a:off x="731520" y="3154680"/>
            <a:ext cx="3383280" cy="19202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Rectangle 28"/>
          <p:cNvSpPr/>
          <p:nvPr/>
        </p:nvSpPr>
        <p:spPr>
          <a:xfrm>
            <a:off x="731520" y="3264408"/>
            <a:ext cx="64008" cy="1700784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29"/>
          <p:cNvSpPr txBox="1"/>
          <p:nvPr/>
        </p:nvSpPr>
        <p:spPr>
          <a:xfrm>
            <a:off x="932688" y="3319272"/>
            <a:ext cx="2999232" cy="599439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BTS — Base Transceiver Station</a:t>
            </a:r>
          </a:p>
        </p:txBody>
      </p:sp>
      <p:sp>
        <p:nvSpPr>
          <p:cNvPr id="1048643" name="TextBox 30"/>
          <p:cNvSpPr txBox="1"/>
          <p:nvPr/>
        </p:nvSpPr>
        <p:spPr>
          <a:xfrm>
            <a:off x="932688" y="3721608"/>
            <a:ext cx="2999232" cy="777241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1C2A3D"/>
                </a:solidFill>
                <a:latin typeface="Aptos"/>
              </a:rPr>
              <a:t>• Sends and receives radio signals
• Provides coverage for a cell
• Handles the radio interface</a:t>
            </a:r>
          </a:p>
        </p:txBody>
      </p:sp>
      <p:sp>
        <p:nvSpPr>
          <p:cNvPr id="1048644" name="Rounded Rectangle 31"/>
          <p:cNvSpPr/>
          <p:nvPr/>
        </p:nvSpPr>
        <p:spPr>
          <a:xfrm>
            <a:off x="4407408" y="3154680"/>
            <a:ext cx="3383280" cy="19202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Rectangle 32"/>
          <p:cNvSpPr/>
          <p:nvPr/>
        </p:nvSpPr>
        <p:spPr>
          <a:xfrm>
            <a:off x="4407408" y="3264408"/>
            <a:ext cx="64008" cy="1700784"/>
          </a:xfrm>
          <a:prstGeom prst="rect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TextBox 33"/>
          <p:cNvSpPr txBox="1"/>
          <p:nvPr/>
        </p:nvSpPr>
        <p:spPr>
          <a:xfrm>
            <a:off x="4608576" y="3319272"/>
            <a:ext cx="299923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BSC — Base Station Controller</a:t>
            </a:r>
          </a:p>
        </p:txBody>
      </p:sp>
      <p:sp>
        <p:nvSpPr>
          <p:cNvPr id="1048647" name="TextBox 34"/>
          <p:cNvSpPr txBox="1"/>
          <p:nvPr/>
        </p:nvSpPr>
        <p:spPr>
          <a:xfrm>
            <a:off x="4608576" y="3721608"/>
            <a:ext cx="2999232" cy="1005841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1C2A3D"/>
                </a:solidFill>
                <a:latin typeface="Aptos"/>
              </a:rPr>
              <a:t>• Controls a group of BTSs
• Allocates radio channels
• Supports handover and power control</a:t>
            </a:r>
          </a:p>
        </p:txBody>
      </p:sp>
      <p:sp>
        <p:nvSpPr>
          <p:cNvPr id="1048648" name="Rounded Rectangle 35"/>
          <p:cNvSpPr/>
          <p:nvPr/>
        </p:nvSpPr>
        <p:spPr>
          <a:xfrm>
            <a:off x="8083296" y="3154680"/>
            <a:ext cx="3383280" cy="192024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9" name="Rectangle 36"/>
          <p:cNvSpPr/>
          <p:nvPr/>
        </p:nvSpPr>
        <p:spPr>
          <a:xfrm>
            <a:off x="8083296" y="3264408"/>
            <a:ext cx="64008" cy="1700784"/>
          </a:xfrm>
          <a:prstGeom prst="rect"/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0" name="TextBox 37"/>
          <p:cNvSpPr txBox="1"/>
          <p:nvPr/>
        </p:nvSpPr>
        <p:spPr>
          <a:xfrm>
            <a:off x="8284464" y="3319272"/>
            <a:ext cx="2999232" cy="599439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TRAU — Transcoding / Rate Adaptation</a:t>
            </a:r>
          </a:p>
        </p:txBody>
      </p:sp>
      <p:sp>
        <p:nvSpPr>
          <p:cNvPr id="1048651" name="TextBox 38"/>
          <p:cNvSpPr txBox="1"/>
          <p:nvPr/>
        </p:nvSpPr>
        <p:spPr>
          <a:xfrm>
            <a:off x="8284464" y="3721608"/>
            <a:ext cx="2999232" cy="701041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Adapts speech coding and data rates where used. Its location can vary by implementation.</a:t>
            </a:r>
          </a:p>
        </p:txBody>
      </p:sp>
      <p:sp>
        <p:nvSpPr>
          <p:cNvPr id="1048652" name="TextBox 39"/>
          <p:cNvSpPr txBox="1"/>
          <p:nvPr/>
        </p:nvSpPr>
        <p:spPr>
          <a:xfrm>
            <a:off x="777240" y="5623560"/>
            <a:ext cx="10698480" cy="2819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300" i="1">
                <a:solidFill>
                  <a:srgbClr val="64778F"/>
                </a:solidFill>
                <a:latin typeface="Aptos"/>
              </a:rPr>
              <a:t>Note: The MSC is part of the core network, not the BSS. TRAU placement may vary.</a:t>
            </a:r>
          </a:p>
        </p:txBody>
      </p:sp>
      <p:sp>
        <p:nvSpPr>
          <p:cNvPr id="1048653" name="TextBox 40"/>
          <p:cNvSpPr txBox="1"/>
          <p:nvPr/>
        </p:nvSpPr>
        <p:spPr>
          <a:xfrm>
            <a:off x="640080" y="6473952"/>
            <a:ext cx="502920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D V Sai Kumar  •  192372321</a:t>
            </a:r>
          </a:p>
        </p:txBody>
      </p:sp>
      <p:sp>
        <p:nvSpPr>
          <p:cNvPr id="1048654" name="TextBox 41"/>
          <p:cNvSpPr txBox="1"/>
          <p:nvPr/>
        </p:nvSpPr>
        <p:spPr>
          <a:xfrm>
            <a:off x="11201400" y="6473952"/>
            <a:ext cx="36576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25" name=""/>
        <p:cNvGrpSpPr/>
        <p:nvPr/>
      </p:nvGrpSpPr>
      <p:grpSpPr>
        <a:xfrm/>
      </p:grpSpPr>
      <p:sp>
        <p:nvSpPr>
          <p:cNvPr id="1048655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0C1C38"/>
                </a:solidFill>
                <a:latin typeface="Aptos"/>
              </a:rPr>
              <a:t>Co-Channel Interference (CCI)</a:t>
            </a:r>
          </a:p>
        </p:txBody>
      </p:sp>
      <p:sp>
        <p:nvSpPr>
          <p:cNvPr id="1048656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1D8E9A"/>
                </a:solidFill>
                <a:latin typeface="Aptos"/>
              </a:rPr>
              <a:t>INTERFERENCE</a:t>
            </a:r>
          </a:p>
        </p:txBody>
      </p:sp>
      <p:sp>
        <p:nvSpPr>
          <p:cNvPr id="1048658" name="TextBox 4"/>
          <p:cNvSpPr txBox="1"/>
          <p:nvPr/>
        </p:nvSpPr>
        <p:spPr>
          <a:xfrm>
            <a:off x="11292840" y="6473952"/>
            <a:ext cx="411480" cy="231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64778F"/>
                </a:solidFill>
                <a:latin typeface="Aptos"/>
              </a:rPr>
              <a:t>04</a:t>
            </a:r>
          </a:p>
        </p:txBody>
      </p:sp>
      <p:sp>
        <p:nvSpPr>
          <p:cNvPr id="1048659" name="TextBox 5"/>
          <p:cNvSpPr txBox="1"/>
          <p:nvPr/>
        </p:nvSpPr>
        <p:spPr>
          <a:xfrm>
            <a:off x="685800" y="1234440"/>
            <a:ext cx="1371600" cy="332739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600" i="0">
                <a:solidFill>
                  <a:srgbClr val="1D8E9A"/>
                </a:solidFill>
                <a:latin typeface="Aptos"/>
              </a:rPr>
              <a:t>Definition</a:t>
            </a:r>
          </a:p>
        </p:txBody>
      </p:sp>
      <p:sp>
        <p:nvSpPr>
          <p:cNvPr id="1048660" name="TextBox 6"/>
          <p:cNvSpPr txBox="1"/>
          <p:nvPr/>
        </p:nvSpPr>
        <p:spPr>
          <a:xfrm>
            <a:off x="685800" y="1572768"/>
            <a:ext cx="10515600" cy="3962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100" i="0">
                <a:solidFill>
                  <a:srgbClr val="0C1C38"/>
                </a:solidFill>
                <a:latin typeface="Aptos"/>
              </a:rPr>
              <a:t>Interference between signals transmitted on the same frequency by different cells.</a:t>
            </a:r>
          </a:p>
        </p:txBody>
      </p:sp>
      <p:sp>
        <p:nvSpPr>
          <p:cNvPr id="1048661" name="Oval 7"/>
          <p:cNvSpPr/>
          <p:nvPr/>
        </p:nvSpPr>
        <p:spPr>
          <a:xfrm>
            <a:off x="1143000" y="2560320"/>
            <a:ext cx="1554480" cy="1371600"/>
          </a:xfrm>
          <a:prstGeom prst="ellipse"/>
          <a:solidFill>
            <a:srgbClr val="205CA0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2" name="TextBox 8"/>
          <p:cNvSpPr txBox="1"/>
          <p:nvPr/>
        </p:nvSpPr>
        <p:spPr>
          <a:xfrm>
            <a:off x="1325880" y="2953512"/>
            <a:ext cx="1188720" cy="59436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600" i="0">
                <a:solidFill>
                  <a:srgbClr val="F8FAFD"/>
                </a:solidFill>
                <a:latin typeface="Aptos"/>
              </a:rPr>
              <a:t>Cell A
f1</a:t>
            </a:r>
          </a:p>
        </p:txBody>
      </p:sp>
      <p:sp>
        <p:nvSpPr>
          <p:cNvPr id="1048663" name="Oval 9"/>
          <p:cNvSpPr/>
          <p:nvPr/>
        </p:nvSpPr>
        <p:spPr>
          <a:xfrm>
            <a:off x="3428999" y="2560320"/>
            <a:ext cx="1554480" cy="1371600"/>
          </a:xfrm>
          <a:prstGeom prst="ellipse"/>
          <a:solidFill>
            <a:srgbClr val="DC534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TextBox 10"/>
          <p:cNvSpPr txBox="1"/>
          <p:nvPr/>
        </p:nvSpPr>
        <p:spPr>
          <a:xfrm>
            <a:off x="3611879" y="2953512"/>
            <a:ext cx="1188720" cy="59436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600" i="0">
                <a:solidFill>
                  <a:srgbClr val="F8FAFD"/>
                </a:solidFill>
                <a:latin typeface="Aptos"/>
              </a:rPr>
              <a:t>Cell B
f2</a:t>
            </a:r>
          </a:p>
        </p:txBody>
      </p:sp>
      <p:sp>
        <p:nvSpPr>
          <p:cNvPr id="1048665" name="Oval 11"/>
          <p:cNvSpPr/>
          <p:nvPr/>
        </p:nvSpPr>
        <p:spPr>
          <a:xfrm>
            <a:off x="5715000" y="2560320"/>
            <a:ext cx="1554480" cy="1371600"/>
          </a:xfrm>
          <a:prstGeom prst="ellipse"/>
          <a:solidFill>
            <a:srgbClr val="205CA0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6" name="TextBox 12"/>
          <p:cNvSpPr txBox="1"/>
          <p:nvPr/>
        </p:nvSpPr>
        <p:spPr>
          <a:xfrm>
            <a:off x="5897879" y="2953512"/>
            <a:ext cx="1188720" cy="59436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600" i="0">
                <a:solidFill>
                  <a:srgbClr val="F8FAFD"/>
                </a:solidFill>
                <a:latin typeface="Aptos"/>
              </a:rPr>
              <a:t>Cell C
f1</a:t>
            </a:r>
          </a:p>
        </p:txBody>
      </p:sp>
      <p:cxnSp>
        <p:nvCxnSpPr>
          <p:cNvPr id="3145731" name="Connector 13"/>
          <p:cNvCxnSpPr>
            <a:cxnSpLocks/>
          </p:cNvCxnSpPr>
          <p:nvPr/>
        </p:nvCxnSpPr>
        <p:spPr>
          <a:xfrm>
            <a:off x="2697480" y="3246120"/>
            <a:ext cx="3017520" cy="0"/>
          </a:xfrm>
          <a:prstGeom prst="line"/>
          <a:ln w="38100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67" name="TextBox 14"/>
          <p:cNvSpPr txBox="1"/>
          <p:nvPr/>
        </p:nvSpPr>
        <p:spPr>
          <a:xfrm>
            <a:off x="3200400" y="2697480"/>
            <a:ext cx="2011680" cy="2743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200" i="0">
                <a:solidFill>
                  <a:srgbClr val="DC534F"/>
                </a:solidFill>
                <a:latin typeface="Aptos"/>
              </a:rPr>
              <a:t>Same frequency f1</a:t>
            </a:r>
          </a:p>
        </p:txBody>
      </p:sp>
      <p:sp>
        <p:nvSpPr>
          <p:cNvPr id="1048668" name="Rounded Rectangle 15"/>
          <p:cNvSpPr/>
          <p:nvPr/>
        </p:nvSpPr>
        <p:spPr>
          <a:xfrm>
            <a:off x="7772400" y="2423160"/>
            <a:ext cx="3657600" cy="196596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Rectangle 16"/>
          <p:cNvSpPr/>
          <p:nvPr/>
        </p:nvSpPr>
        <p:spPr>
          <a:xfrm>
            <a:off x="7772400" y="2532888"/>
            <a:ext cx="64008" cy="1746504"/>
          </a:xfrm>
          <a:prstGeom prst="rect"/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0" name="TextBox 17"/>
          <p:cNvSpPr txBox="1"/>
          <p:nvPr/>
        </p:nvSpPr>
        <p:spPr>
          <a:xfrm>
            <a:off x="7973568" y="2587752"/>
            <a:ext cx="327355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Causes &amp; effects</a:t>
            </a:r>
          </a:p>
        </p:txBody>
      </p:sp>
      <p:sp>
        <p:nvSpPr>
          <p:cNvPr id="1048671" name="TextBox 18"/>
          <p:cNvSpPr txBox="1"/>
          <p:nvPr/>
        </p:nvSpPr>
        <p:spPr>
          <a:xfrm>
            <a:off x="7973568" y="2990088"/>
            <a:ext cx="3273552" cy="777241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1C2A3D"/>
                </a:solidFill>
                <a:latin typeface="Aptos"/>
              </a:rPr>
              <a:t>• Frequency reuse too close together
• Strong neighboring-cell signals
• Lower signal quality / more errors</a:t>
            </a:r>
          </a:p>
        </p:txBody>
      </p:sp>
      <p:sp>
        <p:nvSpPr>
          <p:cNvPr id="1048672" name="TextBox 19"/>
          <p:cNvSpPr txBox="1"/>
          <p:nvPr/>
        </p:nvSpPr>
        <p:spPr>
          <a:xfrm>
            <a:off x="777240" y="5166360"/>
            <a:ext cx="10789920" cy="358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800" i="0">
                <a:solidFill>
                  <a:srgbClr val="1C2A3D"/>
                </a:solidFill>
                <a:latin typeface="Aptos"/>
              </a:rPr>
              <a:t>Mitigation: careful frequency reuse planning, power control, antenna optimization and sectorization.</a:t>
            </a:r>
          </a:p>
        </p:txBody>
      </p:sp>
      <p:sp>
        <p:nvSpPr>
          <p:cNvPr id="1048673" name="TextBox 20"/>
          <p:cNvSpPr txBox="1"/>
          <p:nvPr/>
        </p:nvSpPr>
        <p:spPr>
          <a:xfrm>
            <a:off x="640080" y="6473952"/>
            <a:ext cx="502920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D V Sai Kumar  •  192372321</a:t>
            </a:r>
          </a:p>
        </p:txBody>
      </p:sp>
      <p:sp>
        <p:nvSpPr>
          <p:cNvPr id="1048674" name="TextBox 21"/>
          <p:cNvSpPr txBox="1"/>
          <p:nvPr/>
        </p:nvSpPr>
        <p:spPr>
          <a:xfrm>
            <a:off x="11201400" y="6473952"/>
            <a:ext cx="36576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26" name=""/>
        <p:cNvGrpSpPr/>
        <p:nvPr/>
      </p:nvGrpSpPr>
      <p:grpSpPr>
        <a:xfrm/>
      </p:grpSpPr>
      <p:sp>
        <p:nvSpPr>
          <p:cNvPr id="1048675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0C1C38"/>
                </a:solidFill>
                <a:latin typeface="Aptos"/>
              </a:rPr>
              <a:t>Adjacent-Channel Interference (ACI)</a:t>
            </a:r>
          </a:p>
        </p:txBody>
      </p:sp>
      <p:sp>
        <p:nvSpPr>
          <p:cNvPr id="1048676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1D8E9A"/>
                </a:solidFill>
                <a:latin typeface="Aptos"/>
              </a:rPr>
              <a:t>INTERFERENCE</a:t>
            </a:r>
          </a:p>
        </p:txBody>
      </p:sp>
      <p:sp>
        <p:nvSpPr>
          <p:cNvPr id="1048678" name="TextBox 4"/>
          <p:cNvSpPr txBox="1"/>
          <p:nvPr/>
        </p:nvSpPr>
        <p:spPr>
          <a:xfrm>
            <a:off x="11292840" y="6473952"/>
            <a:ext cx="411480" cy="231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64778F"/>
                </a:solidFill>
                <a:latin typeface="Aptos"/>
              </a:rPr>
              <a:t>05</a:t>
            </a:r>
          </a:p>
        </p:txBody>
      </p:sp>
      <p:sp>
        <p:nvSpPr>
          <p:cNvPr id="1048679" name="TextBox 5"/>
          <p:cNvSpPr txBox="1"/>
          <p:nvPr/>
        </p:nvSpPr>
        <p:spPr>
          <a:xfrm>
            <a:off x="685800" y="1234440"/>
            <a:ext cx="1371600" cy="332739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600" i="0">
                <a:solidFill>
                  <a:srgbClr val="1D8E9A"/>
                </a:solidFill>
                <a:latin typeface="Aptos"/>
              </a:rPr>
              <a:t>Definition</a:t>
            </a:r>
          </a:p>
        </p:txBody>
      </p:sp>
      <p:sp>
        <p:nvSpPr>
          <p:cNvPr id="1048680" name="TextBox 6"/>
          <p:cNvSpPr txBox="1"/>
          <p:nvPr/>
        </p:nvSpPr>
        <p:spPr>
          <a:xfrm>
            <a:off x="685800" y="1572768"/>
            <a:ext cx="10515600" cy="3962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100" i="0">
                <a:solidFill>
                  <a:srgbClr val="0C1C38"/>
                </a:solidFill>
                <a:latin typeface="Aptos"/>
              </a:rPr>
              <a:t>Interference from a nearby frequency channel that affects the desired receiver channel.</a:t>
            </a:r>
          </a:p>
        </p:txBody>
      </p:sp>
      <p:cxnSp>
        <p:nvCxnSpPr>
          <p:cNvPr id="3145732" name="Connector 7"/>
          <p:cNvCxnSpPr>
            <a:cxnSpLocks/>
          </p:cNvCxnSpPr>
          <p:nvPr/>
        </p:nvCxnSpPr>
        <p:spPr>
          <a:xfrm>
            <a:off x="914400" y="3931920"/>
            <a:ext cx="6217920" cy="0"/>
          </a:xfrm>
          <a:prstGeom prst="line"/>
          <a:ln w="19050">
            <a:solidFill>
              <a:srgbClr val="64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81" name="Rectangle 8"/>
          <p:cNvSpPr/>
          <p:nvPr/>
        </p:nvSpPr>
        <p:spPr>
          <a:xfrm>
            <a:off x="1325880" y="3154680"/>
            <a:ext cx="1234440" cy="777239"/>
          </a:xfrm>
          <a:prstGeom prst="rect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2" name="TextBox 9"/>
          <p:cNvSpPr txBox="1"/>
          <p:nvPr/>
        </p:nvSpPr>
        <p:spPr>
          <a:xfrm>
            <a:off x="1325880" y="4119880"/>
            <a:ext cx="1234440" cy="4470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200" i="0">
                <a:solidFill>
                  <a:srgbClr val="F8FAFD"/>
                </a:solidFill>
                <a:latin typeface="Aptos"/>
              </a:rPr>
              <a:t>Channel
N−1</a:t>
            </a:r>
          </a:p>
        </p:txBody>
      </p:sp>
      <p:sp>
        <p:nvSpPr>
          <p:cNvPr id="1048683" name="Rectangle 10"/>
          <p:cNvSpPr/>
          <p:nvPr/>
        </p:nvSpPr>
        <p:spPr>
          <a:xfrm>
            <a:off x="2880360" y="2651760"/>
            <a:ext cx="1325880" cy="1280160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4" name="TextBox 11"/>
          <p:cNvSpPr txBox="1"/>
          <p:nvPr/>
        </p:nvSpPr>
        <p:spPr>
          <a:xfrm>
            <a:off x="2880360" y="4119880"/>
            <a:ext cx="1325880" cy="4470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200" i="0">
                <a:solidFill>
                  <a:srgbClr val="F8FAFD"/>
                </a:solidFill>
                <a:latin typeface="Aptos"/>
              </a:rPr>
              <a:t>Desired
Channel N</a:t>
            </a:r>
          </a:p>
        </p:txBody>
      </p:sp>
      <p:sp>
        <p:nvSpPr>
          <p:cNvPr id="1048685" name="Rectangle 12"/>
          <p:cNvSpPr/>
          <p:nvPr/>
        </p:nvSpPr>
        <p:spPr>
          <a:xfrm>
            <a:off x="4526280" y="3154680"/>
            <a:ext cx="1234440" cy="777239"/>
          </a:xfrm>
          <a:prstGeom prst="rect"/>
          <a:solidFill>
            <a:srgbClr val="D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6" name="TextBox 13"/>
          <p:cNvSpPr txBox="1"/>
          <p:nvPr/>
        </p:nvSpPr>
        <p:spPr>
          <a:xfrm>
            <a:off x="4526280" y="4119880"/>
            <a:ext cx="1234440" cy="4470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200" i="0">
                <a:solidFill>
                  <a:srgbClr val="F8FAFD"/>
                </a:solidFill>
                <a:latin typeface="Aptos"/>
              </a:rPr>
              <a:t>Channel
N+1</a:t>
            </a:r>
          </a:p>
        </p:txBody>
      </p:sp>
      <p:sp>
        <p:nvSpPr>
          <p:cNvPr id="1048687" name="TextBox 14"/>
          <p:cNvSpPr txBox="1"/>
          <p:nvPr/>
        </p:nvSpPr>
        <p:spPr>
          <a:xfrm>
            <a:off x="5760720" y="4069080"/>
            <a:ext cx="1188720" cy="2743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100" i="0">
                <a:solidFill>
                  <a:srgbClr val="64778F"/>
                </a:solidFill>
                <a:latin typeface="Aptos"/>
              </a:rPr>
              <a:t>Frequency →</a:t>
            </a:r>
          </a:p>
        </p:txBody>
      </p:sp>
      <p:sp>
        <p:nvSpPr>
          <p:cNvPr id="1048688" name="Rounded Rectangle 15"/>
          <p:cNvSpPr/>
          <p:nvPr/>
        </p:nvSpPr>
        <p:spPr>
          <a:xfrm>
            <a:off x="7498079" y="2423160"/>
            <a:ext cx="3840480" cy="201168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Rectangle 16"/>
          <p:cNvSpPr/>
          <p:nvPr/>
        </p:nvSpPr>
        <p:spPr>
          <a:xfrm>
            <a:off x="7498079" y="2532888"/>
            <a:ext cx="64008" cy="1792224"/>
          </a:xfrm>
          <a:prstGeom prst="rect"/>
          <a:solidFill>
            <a:srgbClr val="D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0" name="TextBox 17"/>
          <p:cNvSpPr txBox="1"/>
          <p:nvPr/>
        </p:nvSpPr>
        <p:spPr>
          <a:xfrm>
            <a:off x="7699248" y="2587752"/>
            <a:ext cx="345643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Causes &amp; effects</a:t>
            </a:r>
          </a:p>
        </p:txBody>
      </p:sp>
      <p:sp>
        <p:nvSpPr>
          <p:cNvPr id="1048691" name="TextBox 18"/>
          <p:cNvSpPr txBox="1"/>
          <p:nvPr/>
        </p:nvSpPr>
        <p:spPr>
          <a:xfrm>
            <a:off x="7699248" y="2990088"/>
            <a:ext cx="3456432" cy="10058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1C2A3D"/>
                </a:solidFill>
                <a:latin typeface="Aptos"/>
              </a:rPr>
              <a:t>• Poor filtering or receiver selectivity
• Insufficient channel separation
• Distortion, bit errors or reduced sensitivity</a:t>
            </a:r>
          </a:p>
        </p:txBody>
      </p:sp>
      <p:sp>
        <p:nvSpPr>
          <p:cNvPr id="1048692" name="TextBox 19"/>
          <p:cNvSpPr txBox="1"/>
          <p:nvPr/>
        </p:nvSpPr>
        <p:spPr>
          <a:xfrm>
            <a:off x="777240" y="5166360"/>
            <a:ext cx="10789920" cy="358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800" i="0">
                <a:solidFill>
                  <a:srgbClr val="1C2A3D"/>
                </a:solidFill>
                <a:latin typeface="Aptos"/>
              </a:rPr>
              <a:t>Mitigation: better RF filters, appropriate channel spacing, careful channel assignment and power control.</a:t>
            </a:r>
          </a:p>
        </p:txBody>
      </p:sp>
      <p:sp>
        <p:nvSpPr>
          <p:cNvPr id="1048693" name="TextBox 20"/>
          <p:cNvSpPr txBox="1"/>
          <p:nvPr/>
        </p:nvSpPr>
        <p:spPr>
          <a:xfrm>
            <a:off x="640080" y="6473952"/>
            <a:ext cx="502920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D V Sai Kumar  •  192372321</a:t>
            </a:r>
          </a:p>
        </p:txBody>
      </p:sp>
      <p:sp>
        <p:nvSpPr>
          <p:cNvPr id="1048694" name="TextBox 21"/>
          <p:cNvSpPr txBox="1"/>
          <p:nvPr/>
        </p:nvSpPr>
        <p:spPr>
          <a:xfrm>
            <a:off x="11201400" y="6473952"/>
            <a:ext cx="36576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695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0C1C38"/>
                </a:solidFill>
                <a:latin typeface="Aptos"/>
              </a:rPr>
              <a:t>CCI vs ACI: Comparison</a:t>
            </a:r>
          </a:p>
        </p:txBody>
      </p:sp>
      <p:sp>
        <p:nvSpPr>
          <p:cNvPr id="1048696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7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1D8E9A"/>
                </a:solidFill>
                <a:latin typeface="Aptos"/>
              </a:rPr>
              <a:t>SUMMARY</a:t>
            </a:r>
          </a:p>
        </p:txBody>
      </p:sp>
      <p:sp>
        <p:nvSpPr>
          <p:cNvPr id="1048698" name="TextBox 4"/>
          <p:cNvSpPr txBox="1"/>
          <p:nvPr/>
        </p:nvSpPr>
        <p:spPr>
          <a:xfrm>
            <a:off x="11292840" y="6473952"/>
            <a:ext cx="411480" cy="2311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64778F"/>
                </a:solidFill>
                <a:latin typeface="Aptos"/>
              </a:rPr>
              <a:t>06</a:t>
            </a:r>
          </a:p>
        </p:txBody>
      </p:sp>
      <p:sp>
        <p:nvSpPr>
          <p:cNvPr id="1048699" name="Rectangle 5"/>
          <p:cNvSpPr/>
          <p:nvPr/>
        </p:nvSpPr>
        <p:spPr>
          <a:xfrm>
            <a:off x="685800" y="1417320"/>
            <a:ext cx="2148840" cy="502920"/>
          </a:xfrm>
          <a:prstGeom prst="rect"/>
          <a:solidFill>
            <a:srgbClr val="0C1C38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0" name="TextBox 6"/>
          <p:cNvSpPr txBox="1"/>
          <p:nvPr/>
        </p:nvSpPr>
        <p:spPr>
          <a:xfrm>
            <a:off x="795528" y="1508760"/>
            <a:ext cx="1929384" cy="3200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500" i="0">
                <a:solidFill>
                  <a:srgbClr val="F8FAFD"/>
                </a:solidFill>
                <a:latin typeface="Aptos"/>
              </a:rPr>
              <a:t>Feature</a:t>
            </a:r>
          </a:p>
        </p:txBody>
      </p:sp>
      <p:sp>
        <p:nvSpPr>
          <p:cNvPr id="1048701" name="Rectangle 7"/>
          <p:cNvSpPr/>
          <p:nvPr/>
        </p:nvSpPr>
        <p:spPr>
          <a:xfrm>
            <a:off x="2834640" y="1417320"/>
            <a:ext cx="4251960" cy="502920"/>
          </a:xfrm>
          <a:prstGeom prst="rect"/>
          <a:solidFill>
            <a:srgbClr val="0C1C38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2" name="TextBox 8"/>
          <p:cNvSpPr txBox="1"/>
          <p:nvPr/>
        </p:nvSpPr>
        <p:spPr>
          <a:xfrm>
            <a:off x="2944368" y="1508760"/>
            <a:ext cx="4032504" cy="3200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500" i="0">
                <a:solidFill>
                  <a:srgbClr val="F8FAFD"/>
                </a:solidFill>
                <a:latin typeface="Aptos"/>
              </a:rPr>
              <a:t>CCI</a:t>
            </a:r>
          </a:p>
        </p:txBody>
      </p:sp>
      <p:sp>
        <p:nvSpPr>
          <p:cNvPr id="1048703" name="Rectangle 9"/>
          <p:cNvSpPr/>
          <p:nvPr/>
        </p:nvSpPr>
        <p:spPr>
          <a:xfrm>
            <a:off x="7086600" y="1417320"/>
            <a:ext cx="4343400" cy="502920"/>
          </a:xfrm>
          <a:prstGeom prst="rect"/>
          <a:solidFill>
            <a:srgbClr val="0C1C38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TextBox 10"/>
          <p:cNvSpPr txBox="1"/>
          <p:nvPr/>
        </p:nvSpPr>
        <p:spPr>
          <a:xfrm>
            <a:off x="7196328" y="1508760"/>
            <a:ext cx="4123944" cy="3200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500" i="0">
                <a:solidFill>
                  <a:srgbClr val="F8FAFD"/>
                </a:solidFill>
                <a:latin typeface="Aptos"/>
              </a:rPr>
              <a:t>ACI</a:t>
            </a:r>
          </a:p>
        </p:txBody>
      </p:sp>
      <p:sp>
        <p:nvSpPr>
          <p:cNvPr id="1048705" name="Rectangle 11"/>
          <p:cNvSpPr/>
          <p:nvPr/>
        </p:nvSpPr>
        <p:spPr>
          <a:xfrm>
            <a:off x="685800" y="1920240"/>
            <a:ext cx="2148840" cy="658368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6" name="TextBox 12"/>
          <p:cNvSpPr txBox="1"/>
          <p:nvPr/>
        </p:nvSpPr>
        <p:spPr>
          <a:xfrm>
            <a:off x="795528" y="2102104"/>
            <a:ext cx="192938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400" i="0">
                <a:solidFill>
                  <a:srgbClr val="1C2A3D"/>
                </a:solidFill>
                <a:latin typeface="Aptos"/>
              </a:rPr>
              <a:t>Frequency used</a:t>
            </a:r>
          </a:p>
        </p:txBody>
      </p:sp>
      <p:sp>
        <p:nvSpPr>
          <p:cNvPr id="1048707" name="Rectangle 13"/>
          <p:cNvSpPr/>
          <p:nvPr/>
        </p:nvSpPr>
        <p:spPr>
          <a:xfrm>
            <a:off x="2834640" y="1920240"/>
            <a:ext cx="4251960" cy="658368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8" name="TextBox 14"/>
          <p:cNvSpPr txBox="1"/>
          <p:nvPr/>
        </p:nvSpPr>
        <p:spPr>
          <a:xfrm>
            <a:off x="2944368" y="2102104"/>
            <a:ext cx="403250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Same frequency</a:t>
            </a:r>
          </a:p>
        </p:txBody>
      </p:sp>
      <p:sp>
        <p:nvSpPr>
          <p:cNvPr id="1048709" name="Rectangle 15"/>
          <p:cNvSpPr/>
          <p:nvPr/>
        </p:nvSpPr>
        <p:spPr>
          <a:xfrm>
            <a:off x="7086600" y="1920240"/>
            <a:ext cx="4343400" cy="658368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TextBox 16"/>
          <p:cNvSpPr txBox="1"/>
          <p:nvPr/>
        </p:nvSpPr>
        <p:spPr>
          <a:xfrm>
            <a:off x="7196328" y="2102104"/>
            <a:ext cx="412394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Nearby / adjacent frequencies</a:t>
            </a:r>
          </a:p>
        </p:txBody>
      </p:sp>
      <p:sp>
        <p:nvSpPr>
          <p:cNvPr id="1048711" name="Rectangle 17"/>
          <p:cNvSpPr/>
          <p:nvPr/>
        </p:nvSpPr>
        <p:spPr>
          <a:xfrm>
            <a:off x="685800" y="2578608"/>
            <a:ext cx="2148840" cy="804672"/>
          </a:xfrm>
          <a:prstGeom prst="rect"/>
          <a:solidFill>
            <a:srgbClr val="FAFCFF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2" name="TextBox 18"/>
          <p:cNvSpPr txBox="1"/>
          <p:nvPr/>
        </p:nvSpPr>
        <p:spPr>
          <a:xfrm>
            <a:off x="795528" y="2833623"/>
            <a:ext cx="1929384" cy="294642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400" i="0">
                <a:solidFill>
                  <a:srgbClr val="1C2A3D"/>
                </a:solidFill>
                <a:latin typeface="Aptos"/>
              </a:rPr>
              <a:t>Typical cause</a:t>
            </a:r>
          </a:p>
        </p:txBody>
      </p:sp>
      <p:sp>
        <p:nvSpPr>
          <p:cNvPr id="1048713" name="Rectangle 19"/>
          <p:cNvSpPr/>
          <p:nvPr/>
        </p:nvSpPr>
        <p:spPr>
          <a:xfrm>
            <a:off x="2834640" y="2578608"/>
            <a:ext cx="4251960" cy="804672"/>
          </a:xfrm>
          <a:prstGeom prst="rect"/>
          <a:solidFill>
            <a:srgbClr val="FAFCFF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4" name="TextBox 20"/>
          <p:cNvSpPr txBox="1"/>
          <p:nvPr/>
        </p:nvSpPr>
        <p:spPr>
          <a:xfrm>
            <a:off x="2944368" y="2833623"/>
            <a:ext cx="4032504" cy="294642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Frequency reuse between cells</a:t>
            </a:r>
          </a:p>
        </p:txBody>
      </p:sp>
      <p:sp>
        <p:nvSpPr>
          <p:cNvPr id="1048715" name="Rectangle 21"/>
          <p:cNvSpPr/>
          <p:nvPr/>
        </p:nvSpPr>
        <p:spPr>
          <a:xfrm>
            <a:off x="7086600" y="2578608"/>
            <a:ext cx="4343400" cy="804672"/>
          </a:xfrm>
          <a:prstGeom prst="rect"/>
          <a:solidFill>
            <a:srgbClr val="FAFCFF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6" name="TextBox 22"/>
          <p:cNvSpPr txBox="1"/>
          <p:nvPr/>
        </p:nvSpPr>
        <p:spPr>
          <a:xfrm>
            <a:off x="7196328" y="2833623"/>
            <a:ext cx="4123944" cy="294642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Imperfect filtering or receiver selectivity</a:t>
            </a:r>
          </a:p>
        </p:txBody>
      </p:sp>
      <p:sp>
        <p:nvSpPr>
          <p:cNvPr id="1048717" name="Rectangle 23"/>
          <p:cNvSpPr/>
          <p:nvPr/>
        </p:nvSpPr>
        <p:spPr>
          <a:xfrm>
            <a:off x="685800" y="3383280"/>
            <a:ext cx="2148840" cy="868680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8" name="TextBox 24"/>
          <p:cNvSpPr txBox="1"/>
          <p:nvPr/>
        </p:nvSpPr>
        <p:spPr>
          <a:xfrm>
            <a:off x="795528" y="3670300"/>
            <a:ext cx="192938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400" i="0">
                <a:solidFill>
                  <a:srgbClr val="1C2A3D"/>
                </a:solidFill>
                <a:latin typeface="Aptos"/>
              </a:rPr>
              <a:t>Main impact</a:t>
            </a:r>
          </a:p>
        </p:txBody>
      </p:sp>
      <p:sp>
        <p:nvSpPr>
          <p:cNvPr id="1048719" name="Rectangle 25"/>
          <p:cNvSpPr/>
          <p:nvPr/>
        </p:nvSpPr>
        <p:spPr>
          <a:xfrm>
            <a:off x="2834640" y="3383280"/>
            <a:ext cx="4251960" cy="868680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0" name="TextBox 26"/>
          <p:cNvSpPr txBox="1"/>
          <p:nvPr/>
        </p:nvSpPr>
        <p:spPr>
          <a:xfrm>
            <a:off x="2944368" y="3670300"/>
            <a:ext cx="403250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Co-channel signal competes with desired signal</a:t>
            </a:r>
          </a:p>
        </p:txBody>
      </p:sp>
      <p:sp>
        <p:nvSpPr>
          <p:cNvPr id="1048721" name="Rectangle 27"/>
          <p:cNvSpPr/>
          <p:nvPr/>
        </p:nvSpPr>
        <p:spPr>
          <a:xfrm>
            <a:off x="7086600" y="3383280"/>
            <a:ext cx="4343400" cy="868680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2" name="TextBox 28"/>
          <p:cNvSpPr txBox="1"/>
          <p:nvPr/>
        </p:nvSpPr>
        <p:spPr>
          <a:xfrm>
            <a:off x="7196328" y="3568700"/>
            <a:ext cx="4123944" cy="4978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Energy from a neighboring channel affects reception</a:t>
            </a:r>
          </a:p>
        </p:txBody>
      </p:sp>
      <p:sp>
        <p:nvSpPr>
          <p:cNvPr id="1048723" name="Rectangle 29"/>
          <p:cNvSpPr/>
          <p:nvPr/>
        </p:nvSpPr>
        <p:spPr>
          <a:xfrm>
            <a:off x="685800" y="4251960"/>
            <a:ext cx="2148840" cy="822960"/>
          </a:xfrm>
          <a:prstGeom prst="rect"/>
          <a:solidFill>
            <a:srgbClr val="FAFCFF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4" name="TextBox 30"/>
          <p:cNvSpPr txBox="1"/>
          <p:nvPr/>
        </p:nvSpPr>
        <p:spPr>
          <a:xfrm>
            <a:off x="795528" y="4516120"/>
            <a:ext cx="192938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400" i="0">
                <a:solidFill>
                  <a:srgbClr val="1C2A3D"/>
                </a:solidFill>
                <a:latin typeface="Aptos"/>
              </a:rPr>
              <a:t>Main solutions</a:t>
            </a:r>
          </a:p>
        </p:txBody>
      </p:sp>
      <p:sp>
        <p:nvSpPr>
          <p:cNvPr id="1048725" name="Rectangle 31"/>
          <p:cNvSpPr/>
          <p:nvPr/>
        </p:nvSpPr>
        <p:spPr>
          <a:xfrm>
            <a:off x="2834640" y="4251960"/>
            <a:ext cx="4251960" cy="822960"/>
          </a:xfrm>
          <a:prstGeom prst="rect"/>
          <a:solidFill>
            <a:srgbClr val="FAFCFF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6" name="TextBox 32"/>
          <p:cNvSpPr txBox="1"/>
          <p:nvPr/>
        </p:nvSpPr>
        <p:spPr>
          <a:xfrm>
            <a:off x="2944368" y="4414520"/>
            <a:ext cx="4032504" cy="4978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Frequency planning, cell separation, antenna/power control</a:t>
            </a:r>
          </a:p>
        </p:txBody>
      </p:sp>
      <p:sp>
        <p:nvSpPr>
          <p:cNvPr id="1048727" name="Rectangle 33"/>
          <p:cNvSpPr/>
          <p:nvPr/>
        </p:nvSpPr>
        <p:spPr>
          <a:xfrm>
            <a:off x="7086600" y="4251960"/>
            <a:ext cx="4343400" cy="822960"/>
          </a:xfrm>
          <a:prstGeom prst="rect"/>
          <a:solidFill>
            <a:srgbClr val="FAFCFF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8" name="TextBox 34"/>
          <p:cNvSpPr txBox="1"/>
          <p:nvPr/>
        </p:nvSpPr>
        <p:spPr>
          <a:xfrm>
            <a:off x="7196328" y="4516120"/>
            <a:ext cx="412394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RF filters, channel assignment, channel spacing</a:t>
            </a:r>
          </a:p>
        </p:txBody>
      </p:sp>
      <p:sp>
        <p:nvSpPr>
          <p:cNvPr id="1048729" name="Rectangle 35"/>
          <p:cNvSpPr/>
          <p:nvPr/>
        </p:nvSpPr>
        <p:spPr>
          <a:xfrm>
            <a:off x="685800" y="5074920"/>
            <a:ext cx="2148840" cy="749808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0" name="TextBox 36"/>
          <p:cNvSpPr txBox="1"/>
          <p:nvPr/>
        </p:nvSpPr>
        <p:spPr>
          <a:xfrm>
            <a:off x="795528" y="5302504"/>
            <a:ext cx="192938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400" i="0">
                <a:solidFill>
                  <a:srgbClr val="1C2A3D"/>
                </a:solidFill>
                <a:latin typeface="Aptos"/>
              </a:rPr>
              <a:t>Example</a:t>
            </a:r>
          </a:p>
        </p:txBody>
      </p:sp>
      <p:sp>
        <p:nvSpPr>
          <p:cNvPr id="1048731" name="Rectangle 37"/>
          <p:cNvSpPr/>
          <p:nvPr/>
        </p:nvSpPr>
        <p:spPr>
          <a:xfrm>
            <a:off x="2834640" y="5074920"/>
            <a:ext cx="4251960" cy="749808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2" name="TextBox 38"/>
          <p:cNvSpPr txBox="1"/>
          <p:nvPr/>
        </p:nvSpPr>
        <p:spPr>
          <a:xfrm>
            <a:off x="2944368" y="5302504"/>
            <a:ext cx="403250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Two cells transmit on f1</a:t>
            </a:r>
          </a:p>
        </p:txBody>
      </p:sp>
      <p:sp>
        <p:nvSpPr>
          <p:cNvPr id="1048733" name="Rectangle 39"/>
          <p:cNvSpPr/>
          <p:nvPr/>
        </p:nvSpPr>
        <p:spPr>
          <a:xfrm>
            <a:off x="7086600" y="5074920"/>
            <a:ext cx="4343400" cy="749808"/>
          </a:xfrm>
          <a:prstGeom prst="rect"/>
          <a:solidFill>
            <a:srgbClr val="EFF5FB"/>
          </a:solidFill>
          <a:ln>
            <a:solidFill>
              <a:srgbClr val="D4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4" name="TextBox 40"/>
          <p:cNvSpPr txBox="1"/>
          <p:nvPr/>
        </p:nvSpPr>
        <p:spPr>
          <a:xfrm>
            <a:off x="7196328" y="5302504"/>
            <a:ext cx="4123944" cy="294640"/>
          </a:xfrm>
          <a:prstGeom prst="rect"/>
          <a:noFill/>
        </p:spPr>
        <p:txBody>
          <a:bodyPr anchor="ctr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400" i="0">
                <a:solidFill>
                  <a:srgbClr val="1C2A3D"/>
                </a:solidFill>
                <a:latin typeface="Aptos"/>
              </a:rPr>
              <a:t>A strong signal on channel N+1 affects channel N</a:t>
            </a:r>
          </a:p>
        </p:txBody>
      </p:sp>
      <p:sp>
        <p:nvSpPr>
          <p:cNvPr id="1048735" name="TextBox 41"/>
          <p:cNvSpPr txBox="1"/>
          <p:nvPr/>
        </p:nvSpPr>
        <p:spPr>
          <a:xfrm>
            <a:off x="777240" y="5989320"/>
            <a:ext cx="1060704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500" i="0">
                <a:solidFill>
                  <a:srgbClr val="1D8E9A"/>
                </a:solidFill>
                <a:latin typeface="Aptos"/>
              </a:rPr>
              <a:t>Both degrade radio performance, but the interference source and best mitigation method differ.</a:t>
            </a:r>
          </a:p>
        </p:txBody>
      </p:sp>
      <p:sp>
        <p:nvSpPr>
          <p:cNvPr id="1048736" name="TextBox 42"/>
          <p:cNvSpPr txBox="1"/>
          <p:nvPr/>
        </p:nvSpPr>
        <p:spPr>
          <a:xfrm>
            <a:off x="640080" y="6473952"/>
            <a:ext cx="502920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D V Sai Kumar  •  192372321</a:t>
            </a:r>
          </a:p>
        </p:txBody>
      </p:sp>
      <p:sp>
        <p:nvSpPr>
          <p:cNvPr id="1048737" name="TextBox 43"/>
          <p:cNvSpPr txBox="1"/>
          <p:nvPr/>
        </p:nvSpPr>
        <p:spPr>
          <a:xfrm>
            <a:off x="11201400" y="6473952"/>
            <a:ext cx="365760" cy="2184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38"/>
        </a:solid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738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F8FAFD"/>
                </a:solidFill>
                <a:latin typeface="Aptos"/>
              </a:rPr>
              <a:t>Conclusion</a:t>
            </a:r>
          </a:p>
        </p:txBody>
      </p:sp>
      <p:sp>
        <p:nvSpPr>
          <p:cNvPr id="1048739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0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33BECD"/>
                </a:solidFill>
                <a:latin typeface="Aptos"/>
              </a:rPr>
              <a:t>KEY TAKEAWAYS</a:t>
            </a:r>
          </a:p>
        </p:txBody>
      </p:sp>
      <p:sp>
        <p:nvSpPr>
          <p:cNvPr id="1048741" name="TextBox 4"/>
          <p:cNvSpPr txBox="1"/>
          <p:nvPr/>
        </p:nvSpPr>
        <p:spPr>
          <a:xfrm>
            <a:off x="11292840" y="6473952"/>
            <a:ext cx="411480" cy="18288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E4EEF8"/>
                </a:solidFill>
                <a:latin typeface="Aptos"/>
              </a:rPr>
              <a:t>07</a:t>
            </a:r>
          </a:p>
        </p:txBody>
      </p:sp>
      <p:sp>
        <p:nvSpPr>
          <p:cNvPr id="1048742" name="Rounded Rectangle 5"/>
          <p:cNvSpPr/>
          <p:nvPr/>
        </p:nvSpPr>
        <p:spPr>
          <a:xfrm>
            <a:off x="731520" y="1417320"/>
            <a:ext cx="3383280" cy="1920240"/>
          </a:xfrm>
          <a:prstGeom prst="roundRect"/>
          <a:solidFill>
            <a:srgbClr val="152B4B"/>
          </a:solidFill>
          <a:ln>
            <a:solidFill>
              <a:srgbClr val="2D4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3" name="Rectangle 6"/>
          <p:cNvSpPr/>
          <p:nvPr/>
        </p:nvSpPr>
        <p:spPr>
          <a:xfrm>
            <a:off x="731520" y="1527048"/>
            <a:ext cx="64008" cy="1700784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4" name="TextBox 7"/>
          <p:cNvSpPr txBox="1"/>
          <p:nvPr/>
        </p:nvSpPr>
        <p:spPr>
          <a:xfrm>
            <a:off x="932688" y="1581912"/>
            <a:ext cx="299923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F8FAFD"/>
                </a:solidFill>
                <a:latin typeface="Aptos"/>
              </a:rPr>
              <a:t>BSS</a:t>
            </a:r>
          </a:p>
        </p:txBody>
      </p:sp>
      <p:sp>
        <p:nvSpPr>
          <p:cNvPr id="1048745" name="TextBox 8"/>
          <p:cNvSpPr txBox="1"/>
          <p:nvPr/>
        </p:nvSpPr>
        <p:spPr>
          <a:xfrm>
            <a:off x="932688" y="1984248"/>
            <a:ext cx="2999232" cy="1261872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600" i="0">
                <a:solidFill>
                  <a:srgbClr val="E4EEF8"/>
                </a:solidFill>
                <a:latin typeface="Aptos"/>
              </a:rPr>
              <a:t>Provides the radio connection between mobile stations and the core network.</a:t>
            </a:r>
          </a:p>
        </p:txBody>
      </p:sp>
      <p:sp>
        <p:nvSpPr>
          <p:cNvPr id="1048746" name="Rounded Rectangle 9"/>
          <p:cNvSpPr/>
          <p:nvPr/>
        </p:nvSpPr>
        <p:spPr>
          <a:xfrm>
            <a:off x="4407408" y="1417320"/>
            <a:ext cx="3383280" cy="1920240"/>
          </a:xfrm>
          <a:prstGeom prst="roundRect"/>
          <a:solidFill>
            <a:srgbClr val="152B4B"/>
          </a:solidFill>
          <a:ln>
            <a:solidFill>
              <a:srgbClr val="2D4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7" name="Rectangle 10"/>
          <p:cNvSpPr/>
          <p:nvPr/>
        </p:nvSpPr>
        <p:spPr>
          <a:xfrm>
            <a:off x="4407408" y="1527048"/>
            <a:ext cx="64008" cy="1700784"/>
          </a:xfrm>
          <a:prstGeom prst="rect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8" name="TextBox 11"/>
          <p:cNvSpPr txBox="1"/>
          <p:nvPr/>
        </p:nvSpPr>
        <p:spPr>
          <a:xfrm>
            <a:off x="4608576" y="1581912"/>
            <a:ext cx="299923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F8FAFD"/>
                </a:solidFill>
                <a:latin typeface="Aptos"/>
              </a:rPr>
              <a:t>CCI</a:t>
            </a:r>
          </a:p>
        </p:txBody>
      </p:sp>
      <p:sp>
        <p:nvSpPr>
          <p:cNvPr id="1048749" name="TextBox 12"/>
          <p:cNvSpPr txBox="1"/>
          <p:nvPr/>
        </p:nvSpPr>
        <p:spPr>
          <a:xfrm>
            <a:off x="4608576" y="1984248"/>
            <a:ext cx="2999232" cy="1261872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E4EEF8"/>
                </a:solidFill>
                <a:latin typeface="Aptos"/>
              </a:rPr>
              <a:t>Same-frequency interference is managed mainly through frequency reuse planning and cell design.</a:t>
            </a:r>
          </a:p>
        </p:txBody>
      </p:sp>
      <p:sp>
        <p:nvSpPr>
          <p:cNvPr id="1048750" name="Rounded Rectangle 13"/>
          <p:cNvSpPr/>
          <p:nvPr/>
        </p:nvSpPr>
        <p:spPr>
          <a:xfrm>
            <a:off x="8083296" y="1417320"/>
            <a:ext cx="3383280" cy="1920240"/>
          </a:xfrm>
          <a:prstGeom prst="roundRect"/>
          <a:solidFill>
            <a:srgbClr val="152B4B"/>
          </a:solidFill>
          <a:ln>
            <a:solidFill>
              <a:srgbClr val="2D4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1" name="Rectangle 14"/>
          <p:cNvSpPr/>
          <p:nvPr/>
        </p:nvSpPr>
        <p:spPr>
          <a:xfrm>
            <a:off x="8083296" y="1527048"/>
            <a:ext cx="64008" cy="1700784"/>
          </a:xfrm>
          <a:prstGeom prst="rect"/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2" name="TextBox 15"/>
          <p:cNvSpPr txBox="1"/>
          <p:nvPr/>
        </p:nvSpPr>
        <p:spPr>
          <a:xfrm>
            <a:off x="8284464" y="1581912"/>
            <a:ext cx="299923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F8FAFD"/>
                </a:solidFill>
                <a:latin typeface="Aptos"/>
              </a:rPr>
              <a:t>ACI</a:t>
            </a:r>
          </a:p>
        </p:txBody>
      </p:sp>
      <p:sp>
        <p:nvSpPr>
          <p:cNvPr id="1048753" name="TextBox 16"/>
          <p:cNvSpPr txBox="1"/>
          <p:nvPr/>
        </p:nvSpPr>
        <p:spPr>
          <a:xfrm>
            <a:off x="8284464" y="1984248"/>
            <a:ext cx="2999232" cy="1261872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E4EEF8"/>
                </a:solidFill>
                <a:latin typeface="Aptos"/>
              </a:rPr>
              <a:t>Adjacent-channel interference is reduced through filtering, channel planning and power control.</a:t>
            </a:r>
          </a:p>
        </p:txBody>
      </p:sp>
      <p:sp>
        <p:nvSpPr>
          <p:cNvPr id="1048754" name="TextBox 17"/>
          <p:cNvSpPr txBox="1"/>
          <p:nvPr/>
        </p:nvSpPr>
        <p:spPr>
          <a:xfrm>
            <a:off x="822960" y="3977639"/>
            <a:ext cx="5029200" cy="36576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900" i="0">
                <a:solidFill>
                  <a:srgbClr val="F8FAFD"/>
                </a:solidFill>
                <a:latin typeface="Aptos"/>
              </a:rPr>
              <a:t>Effective interference management improves:</a:t>
            </a:r>
          </a:p>
        </p:txBody>
      </p:sp>
      <p:sp>
        <p:nvSpPr>
          <p:cNvPr id="1048755" name="Rounded Rectangle 18"/>
          <p:cNvSpPr/>
          <p:nvPr/>
        </p:nvSpPr>
        <p:spPr>
          <a:xfrm>
            <a:off x="868680" y="4572000"/>
            <a:ext cx="3154680" cy="685800"/>
          </a:xfrm>
          <a:prstGeom prst="roundRect"/>
          <a:solidFill>
            <a:srgbClr val="183152"/>
          </a:solidFill>
          <a:ln>
            <a:solidFill>
              <a:srgbClr val="3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6" name="TextBox 19"/>
          <p:cNvSpPr txBox="1"/>
          <p:nvPr/>
        </p:nvSpPr>
        <p:spPr>
          <a:xfrm>
            <a:off x="960120" y="4709160"/>
            <a:ext cx="297180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700" i="0">
                <a:solidFill>
                  <a:srgbClr val="F8FAFD"/>
                </a:solidFill>
                <a:latin typeface="Aptos"/>
              </a:rPr>
              <a:t>Call quality</a:t>
            </a:r>
          </a:p>
        </p:txBody>
      </p:sp>
      <p:sp>
        <p:nvSpPr>
          <p:cNvPr id="1048757" name="Rounded Rectangle 20"/>
          <p:cNvSpPr/>
          <p:nvPr/>
        </p:nvSpPr>
        <p:spPr>
          <a:xfrm>
            <a:off x="4480560" y="4572000"/>
            <a:ext cx="3154680" cy="685800"/>
          </a:xfrm>
          <a:prstGeom prst="roundRect"/>
          <a:solidFill>
            <a:srgbClr val="183152"/>
          </a:solidFill>
          <a:ln>
            <a:solidFill>
              <a:srgbClr val="20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8" name="TextBox 21"/>
          <p:cNvSpPr txBox="1"/>
          <p:nvPr/>
        </p:nvSpPr>
        <p:spPr>
          <a:xfrm>
            <a:off x="4572000" y="4709160"/>
            <a:ext cx="297180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700" i="0">
                <a:solidFill>
                  <a:srgbClr val="F8FAFD"/>
                </a:solidFill>
                <a:latin typeface="Aptos"/>
              </a:rPr>
              <a:t>Network reliability</a:t>
            </a:r>
          </a:p>
        </p:txBody>
      </p:sp>
      <p:sp>
        <p:nvSpPr>
          <p:cNvPr id="1048759" name="Rounded Rectangle 22"/>
          <p:cNvSpPr/>
          <p:nvPr/>
        </p:nvSpPr>
        <p:spPr>
          <a:xfrm>
            <a:off x="8092440" y="4572000"/>
            <a:ext cx="3154680" cy="685800"/>
          </a:xfrm>
          <a:prstGeom prst="roundRect"/>
          <a:solidFill>
            <a:srgbClr val="183152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0" name="TextBox 23"/>
          <p:cNvSpPr txBox="1"/>
          <p:nvPr/>
        </p:nvSpPr>
        <p:spPr>
          <a:xfrm>
            <a:off x="8183879" y="4709160"/>
            <a:ext cx="297180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1700" i="0">
                <a:solidFill>
                  <a:srgbClr val="F8FAFD"/>
                </a:solidFill>
                <a:latin typeface="Aptos"/>
              </a:rPr>
              <a:t>Spectrum efficiency</a:t>
            </a:r>
          </a:p>
        </p:txBody>
      </p:sp>
      <p:sp>
        <p:nvSpPr>
          <p:cNvPr id="1048761" name="TextBox 24"/>
          <p:cNvSpPr txBox="1"/>
          <p:nvPr/>
        </p:nvSpPr>
        <p:spPr>
          <a:xfrm>
            <a:off x="4023360" y="5623560"/>
            <a:ext cx="4023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1" sz="2900" i="0">
                <a:solidFill>
                  <a:srgbClr val="33BECD"/>
                </a:solidFill>
                <a:latin typeface="Aptos"/>
              </a:rPr>
              <a:t>Thank You</a:t>
            </a:r>
          </a:p>
        </p:txBody>
      </p:sp>
      <p:sp>
        <p:nvSpPr>
          <p:cNvPr id="1048762" name="TextBox 25"/>
          <p:cNvSpPr txBox="1"/>
          <p:nvPr/>
        </p:nvSpPr>
        <p:spPr>
          <a:xfrm>
            <a:off x="3017520" y="6199632"/>
            <a:ext cx="612648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ctr">
              <a:spcAft>
                <a:spcPts val="200"/>
              </a:spcAft>
            </a:pPr>
            <a:r>
              <a:rPr b="0" sz="1200" i="0">
                <a:solidFill>
                  <a:srgbClr val="E4EEF8"/>
                </a:solidFill>
                <a:latin typeface="Aptos"/>
              </a:rPr>
              <a:t>D V Sai Kumar  |  Register Number: 192372321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763" name="TextBox 1"/>
          <p:cNvSpPr txBox="1"/>
          <p:nvPr/>
        </p:nvSpPr>
        <p:spPr>
          <a:xfrm>
            <a:off x="594360" y="320040"/>
            <a:ext cx="1088136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700" i="0">
                <a:solidFill>
                  <a:srgbClr val="0C1C38"/>
                </a:solidFill>
                <a:latin typeface="Aptos"/>
              </a:rPr>
              <a:t>Questions &amp; References</a:t>
            </a:r>
          </a:p>
        </p:txBody>
      </p:sp>
      <p:sp>
        <p:nvSpPr>
          <p:cNvPr id="1048764" name="Rectangle 2"/>
          <p:cNvSpPr/>
          <p:nvPr/>
        </p:nvSpPr>
        <p:spPr>
          <a:xfrm>
            <a:off x="621792" y="932688"/>
            <a:ext cx="1051560" cy="50292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5" name="TextBox 3"/>
          <p:cNvSpPr txBox="1"/>
          <p:nvPr/>
        </p:nvSpPr>
        <p:spPr>
          <a:xfrm>
            <a:off x="9418320" y="384048"/>
            <a:ext cx="2057400" cy="22860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1" sz="1000" i="0">
                <a:solidFill>
                  <a:srgbClr val="1D8E9A"/>
                </a:solidFill>
                <a:latin typeface="Aptos"/>
              </a:rPr>
              <a:t>DISCUSSION</a:t>
            </a:r>
          </a:p>
        </p:txBody>
      </p:sp>
      <p:sp>
        <p:nvSpPr>
          <p:cNvPr id="1048766" name="TextBox 4"/>
          <p:cNvSpPr txBox="1"/>
          <p:nvPr/>
        </p:nvSpPr>
        <p:spPr>
          <a:xfrm>
            <a:off x="11292840" y="6473952"/>
            <a:ext cx="411480" cy="18288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1000" i="0">
                <a:solidFill>
                  <a:srgbClr val="64778F"/>
                </a:solidFill>
                <a:latin typeface="Aptos"/>
              </a:rPr>
              <a:t>08</a:t>
            </a:r>
          </a:p>
        </p:txBody>
      </p:sp>
      <p:sp>
        <p:nvSpPr>
          <p:cNvPr id="1048767" name="TextBox 5"/>
          <p:cNvSpPr txBox="1"/>
          <p:nvPr/>
        </p:nvSpPr>
        <p:spPr>
          <a:xfrm>
            <a:off x="777240" y="1417320"/>
            <a:ext cx="7315200" cy="50292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800" i="0">
                <a:solidFill>
                  <a:srgbClr val="0C1C38"/>
                </a:solidFill>
                <a:latin typeface="Aptos"/>
              </a:rPr>
              <a:t>Thank you for your attention.</a:t>
            </a:r>
          </a:p>
        </p:txBody>
      </p:sp>
      <p:sp>
        <p:nvSpPr>
          <p:cNvPr id="1048768" name="TextBox 6"/>
          <p:cNvSpPr txBox="1"/>
          <p:nvPr/>
        </p:nvSpPr>
        <p:spPr>
          <a:xfrm>
            <a:off x="777240" y="2057400"/>
            <a:ext cx="3657600" cy="5486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2400" i="0">
                <a:solidFill>
                  <a:srgbClr val="1D8E9A"/>
                </a:solidFill>
                <a:latin typeface="Aptos"/>
              </a:rPr>
              <a:t>Questions?</a:t>
            </a:r>
          </a:p>
        </p:txBody>
      </p:sp>
      <p:sp>
        <p:nvSpPr>
          <p:cNvPr id="1048769" name="Rounded Rectangle 7"/>
          <p:cNvSpPr/>
          <p:nvPr/>
        </p:nvSpPr>
        <p:spPr>
          <a:xfrm>
            <a:off x="777240" y="2971800"/>
            <a:ext cx="5074920" cy="201168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0" name="Rectangle 8"/>
          <p:cNvSpPr/>
          <p:nvPr/>
        </p:nvSpPr>
        <p:spPr>
          <a:xfrm>
            <a:off x="777240" y="3081528"/>
            <a:ext cx="64008" cy="1792224"/>
          </a:xfrm>
          <a:prstGeom prst="rect"/>
          <a:solidFill>
            <a:srgbClr val="33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1" name="TextBox 9"/>
          <p:cNvSpPr txBox="1"/>
          <p:nvPr/>
        </p:nvSpPr>
        <p:spPr>
          <a:xfrm>
            <a:off x="978408" y="3136392"/>
            <a:ext cx="469087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Key terms</a:t>
            </a:r>
          </a:p>
        </p:txBody>
      </p:sp>
      <p:sp>
        <p:nvSpPr>
          <p:cNvPr id="1048772" name="TextBox 10"/>
          <p:cNvSpPr txBox="1"/>
          <p:nvPr/>
        </p:nvSpPr>
        <p:spPr>
          <a:xfrm>
            <a:off x="978408" y="3538728"/>
            <a:ext cx="4690872" cy="1353312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1C2A3D"/>
                </a:solidFill>
                <a:latin typeface="Aptos"/>
              </a:rPr>
              <a:t>BSS — Base Station Subsystem
BTS — Base Transceiver Station
BSC — Base Station Controller
CCI — Co-Channel Interference
ACI — Adjacent-Channel Interference</a:t>
            </a:r>
          </a:p>
        </p:txBody>
      </p:sp>
      <p:sp>
        <p:nvSpPr>
          <p:cNvPr id="1048773" name="Rounded Rectangle 11"/>
          <p:cNvSpPr/>
          <p:nvPr/>
        </p:nvSpPr>
        <p:spPr>
          <a:xfrm>
            <a:off x="6172200" y="2971800"/>
            <a:ext cx="5074920" cy="2011680"/>
          </a:xfrm>
          <a:prstGeom prst="roundRect"/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4" name="Rectangle 12"/>
          <p:cNvSpPr/>
          <p:nvPr/>
        </p:nvSpPr>
        <p:spPr>
          <a:xfrm>
            <a:off x="6172200" y="3081528"/>
            <a:ext cx="64008" cy="1792224"/>
          </a:xfrm>
          <a:prstGeom prst="rect"/>
          <a:solidFill>
            <a:srgbClr val="2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5" name="TextBox 13"/>
          <p:cNvSpPr txBox="1"/>
          <p:nvPr/>
        </p:nvSpPr>
        <p:spPr>
          <a:xfrm>
            <a:off x="6373368" y="3136392"/>
            <a:ext cx="4690872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700" i="0">
                <a:solidFill>
                  <a:srgbClr val="0C1C38"/>
                </a:solidFill>
                <a:latin typeface="Aptos"/>
              </a:rPr>
              <a:t>Suggested references</a:t>
            </a:r>
          </a:p>
        </p:txBody>
      </p:sp>
      <p:sp>
        <p:nvSpPr>
          <p:cNvPr id="1048776" name="TextBox 14"/>
          <p:cNvSpPr txBox="1"/>
          <p:nvPr/>
        </p:nvSpPr>
        <p:spPr>
          <a:xfrm>
            <a:off x="6373368" y="3538728"/>
            <a:ext cx="4690872" cy="1353312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1500" i="0">
                <a:solidFill>
                  <a:srgbClr val="1C2A3D"/>
                </a:solidFill>
                <a:latin typeface="Aptos"/>
              </a:rPr>
              <a:t>• 3GPP GSM/GERAN technical specifications
• ITU-R recommendations on radio-frequency management
• Standard GSM / mobile communications textbooks</a:t>
            </a:r>
          </a:p>
        </p:txBody>
      </p:sp>
      <p:sp>
        <p:nvSpPr>
          <p:cNvPr id="1048777" name="TextBox 15"/>
          <p:cNvSpPr txBox="1"/>
          <p:nvPr/>
        </p:nvSpPr>
        <p:spPr>
          <a:xfrm>
            <a:off x="777240" y="5760720"/>
            <a:ext cx="6400800" cy="32004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1" sz="1600" i="0">
                <a:solidFill>
                  <a:srgbClr val="64778F"/>
                </a:solidFill>
                <a:latin typeface="Aptos"/>
              </a:rPr>
              <a:t>Presented by D V Sai Kumar  •  192372321</a:t>
            </a:r>
          </a:p>
        </p:txBody>
      </p:sp>
      <p:sp>
        <p:nvSpPr>
          <p:cNvPr id="1048778" name="TextBox 16"/>
          <p:cNvSpPr txBox="1"/>
          <p:nvPr/>
        </p:nvSpPr>
        <p:spPr>
          <a:xfrm>
            <a:off x="640080" y="6473952"/>
            <a:ext cx="5029200" cy="18288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l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D V Sai Kumar  •  192372321</a:t>
            </a:r>
          </a:p>
        </p:txBody>
      </p:sp>
      <p:sp>
        <p:nvSpPr>
          <p:cNvPr id="1048779" name="TextBox 17"/>
          <p:cNvSpPr txBox="1"/>
          <p:nvPr/>
        </p:nvSpPr>
        <p:spPr>
          <a:xfrm>
            <a:off x="11201400" y="6473952"/>
            <a:ext cx="365760" cy="182880"/>
          </a:xfrm>
          <a:prstGeom prst="rect"/>
          <a:noFill/>
        </p:spPr>
        <p:txBody>
          <a:bodyPr anchor="t" lIns="45720" rIns="45720" wrap="square">
            <a:spAutoFit/>
          </a:bodyPr>
          <a:p>
            <a:pPr algn="r">
              <a:spcAft>
                <a:spcPts val="200"/>
              </a:spcAft>
            </a:pPr>
            <a:r>
              <a:rPr b="0" sz="900" i="0">
                <a:solidFill>
                  <a:srgbClr val="64778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RMX3710</dc:creator>
  <cp:lastModifiedBy>Steve Canny</cp:lastModifiedBy>
  <dcterms:created xsi:type="dcterms:W3CDTF">2013-01-26T22:14:16Z</dcterms:created>
  <dcterms:modified xsi:type="dcterms:W3CDTF">2026-10-26T07:21:41Z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ba37ea1f757147aea2ac458a5c3dc5a8_23</vt:lpwstr>
  </property>
</Properties>
</file>